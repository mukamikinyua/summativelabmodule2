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3A2A4A"/>
                </a:solidFill>
                <a:latin typeface="Arial"/>
              </a:rPr>
              <a:t>Average rating by genre, movies with 1,000+ votes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E5A8D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7C7FE0"/>
              </a:solidFill>
            </c:spPr>
            <c:extLst>
              <c:ext xmlns:c16="http://schemas.microsoft.com/office/drawing/2014/chart" uri="{C3380CC4-5D6E-409C-BE32-E72D297353CC}">
                <c16:uniqueId val="{00000001-3BEC-40B9-9480-2AAF93D7CF98}"/>
              </c:ext>
            </c:extLst>
          </c:dPt>
          <c:dPt>
            <c:idx val="17"/>
            <c:invertIfNegative val="1"/>
            <c:bubble3D val="0"/>
            <c:spPr>
              <a:solidFill>
                <a:srgbClr val="C22FA8"/>
              </a:solidFill>
            </c:spPr>
            <c:extLst>
              <c:ext xmlns:c16="http://schemas.microsoft.com/office/drawing/2014/chart" uri="{C3380CC4-5D6E-409C-BE32-E72D297353CC}">
                <c16:uniqueId val="{00000003-3BEC-40B9-9480-2AAF93D7CF98}"/>
              </c:ext>
            </c:extLst>
          </c:dPt>
          <c:dPt>
            <c:idx val="18"/>
            <c:invertIfNegative val="1"/>
            <c:bubble3D val="0"/>
            <c:spPr>
              <a:solidFill>
                <a:srgbClr val="C22FA8"/>
              </a:solidFill>
            </c:spPr>
            <c:extLst>
              <c:ext xmlns:c16="http://schemas.microsoft.com/office/drawing/2014/chart" uri="{C3380CC4-5D6E-409C-BE32-E72D297353CC}">
                <c16:uniqueId val="{00000005-3BEC-40B9-9480-2AAF93D7CF98}"/>
              </c:ext>
            </c:extLst>
          </c:dPt>
          <c:dPt>
            <c:idx val="19"/>
            <c:invertIfNegative val="1"/>
            <c:bubble3D val="0"/>
            <c:spPr>
              <a:solidFill>
                <a:srgbClr val="C22FA8"/>
              </a:solidFill>
            </c:spPr>
            <c:extLst>
              <c:ext xmlns:c16="http://schemas.microsoft.com/office/drawing/2014/chart" uri="{C3380CC4-5D6E-409C-BE32-E72D297353CC}">
                <c16:uniqueId val="{00000007-3BEC-40B9-9480-2AAF93D7CF9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3A2A4A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Horror</c:v>
                </c:pt>
                <c:pt idx="1">
                  <c:v>Sci-Fi</c:v>
                </c:pt>
                <c:pt idx="2">
                  <c:v>Thriller</c:v>
                </c:pt>
                <c:pt idx="3">
                  <c:v>Fantasy</c:v>
                </c:pt>
                <c:pt idx="4">
                  <c:v>Action</c:v>
                </c:pt>
                <c:pt idx="5">
                  <c:v>Mystery</c:v>
                </c:pt>
                <c:pt idx="6">
                  <c:v>Comedy</c:v>
                </c:pt>
                <c:pt idx="7">
                  <c:v>Adventure</c:v>
                </c:pt>
                <c:pt idx="8">
                  <c:v>Crime</c:v>
                </c:pt>
                <c:pt idx="9">
                  <c:v>Family</c:v>
                </c:pt>
                <c:pt idx="10">
                  <c:v>Romance</c:v>
                </c:pt>
                <c:pt idx="11">
                  <c:v>Drama</c:v>
                </c:pt>
                <c:pt idx="12">
                  <c:v>Musical</c:v>
                </c:pt>
                <c:pt idx="13">
                  <c:v>Animation</c:v>
                </c:pt>
                <c:pt idx="14">
                  <c:v>War</c:v>
                </c:pt>
                <c:pt idx="15">
                  <c:v>Music</c:v>
                </c:pt>
                <c:pt idx="16">
                  <c:v>History</c:v>
                </c:pt>
                <c:pt idx="17">
                  <c:v>Sport</c:v>
                </c:pt>
                <c:pt idx="18">
                  <c:v>Biography</c:v>
                </c:pt>
                <c:pt idx="19">
                  <c:v>Documentary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5.28</c:v>
                </c:pt>
                <c:pt idx="1">
                  <c:v>5.71</c:v>
                </c:pt>
                <c:pt idx="2">
                  <c:v>5.9</c:v>
                </c:pt>
                <c:pt idx="3">
                  <c:v>6</c:v>
                </c:pt>
                <c:pt idx="4">
                  <c:v>6.01</c:v>
                </c:pt>
                <c:pt idx="5">
                  <c:v>6.06</c:v>
                </c:pt>
                <c:pt idx="6">
                  <c:v>6.11</c:v>
                </c:pt>
                <c:pt idx="7">
                  <c:v>6.16</c:v>
                </c:pt>
                <c:pt idx="8">
                  <c:v>6.27</c:v>
                </c:pt>
                <c:pt idx="9">
                  <c:v>6.33</c:v>
                </c:pt>
                <c:pt idx="10">
                  <c:v>6.34</c:v>
                </c:pt>
                <c:pt idx="11">
                  <c:v>6.49</c:v>
                </c:pt>
                <c:pt idx="12">
                  <c:v>6.54</c:v>
                </c:pt>
                <c:pt idx="13">
                  <c:v>6.68</c:v>
                </c:pt>
                <c:pt idx="14">
                  <c:v>6.72</c:v>
                </c:pt>
                <c:pt idx="15">
                  <c:v>6.75</c:v>
                </c:pt>
                <c:pt idx="16">
                  <c:v>6.89</c:v>
                </c:pt>
                <c:pt idx="17">
                  <c:v>6.93</c:v>
                </c:pt>
                <c:pt idx="18">
                  <c:v>6.96</c:v>
                </c:pt>
                <c:pt idx="19">
                  <c:v>7.27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3BEC-40B9-9480-2AAF93D7CF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3A2A4A"/>
            </a:solidFill>
          </a:ln>
        </c:spPr>
        <c:txPr>
          <a:bodyPr/>
          <a:lstStyle/>
          <a:p>
            <a:pPr>
              <a:defRPr sz="1000">
                <a:solidFill>
                  <a:srgbClr val="3A2A4A"/>
                </a:solidFill>
                <a:latin typeface="Arial"/>
              </a:defRPr>
            </a:pPr>
            <a:endParaRPr lang="en-K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.5"/>
          <c:min val="5"/>
        </c:scaling>
        <c:delete val="0"/>
        <c:axPos val="b"/>
        <c:title>
          <c:tx>
            <c:rich>
              <a:bodyPr/>
              <a:lstStyle/>
              <a:p>
                <a:r>
                  <a:rPr lang="en-US" sz="1000">
                    <a:solidFill>
                      <a:srgbClr val="3A2A4A"/>
                    </a:solidFill>
                    <a:latin typeface="Arial"/>
                  </a:rPr>
                  <a:t>Average rating (out of 10)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3A2A4A"/>
            </a:solidFill>
          </a:ln>
        </c:spPr>
        <c:txPr>
          <a:bodyPr/>
          <a:lstStyle/>
          <a:p>
            <a:pPr>
              <a:defRPr sz="900">
                <a:solidFill>
                  <a:srgbClr val="3A2A4A"/>
                </a:solidFill>
                <a:latin typeface="Arial"/>
              </a:defRPr>
            </a:pPr>
            <a:endParaRPr lang="en-KE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</c:spPr>
  <c:txPr>
    <a:bodyPr/>
    <a:lstStyle/>
    <a:p>
      <a:pPr>
        <a:defRPr sz="1800"/>
      </a:pPr>
      <a:endParaRPr lang="en-KE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kamiKinyua/summativelabmodule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731520"/>
            <a:ext cx="10881360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65760"/>
            <a:ext cx="822960" cy="82296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20" y="5669280"/>
            <a:ext cx="640080" cy="640080"/>
          </a:xfrm>
          <a:prstGeom prst="ellipse">
            <a:avLst/>
          </a:prstGeom>
          <a:solidFill>
            <a:srgbClr val="7C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55680" y="5760720"/>
            <a:ext cx="457200" cy="45720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875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C22FA8"/>
                </a:solidFill>
                <a:latin typeface="Arial Black"/>
              </a:rPr>
              <a:t>What Makes a Movie</a:t>
            </a:r>
          </a:p>
          <a:p>
            <a:pPr algn="l">
              <a:spcAft>
                <a:spcPts val="0"/>
              </a:spcAft>
            </a:pPr>
            <a:r>
              <a:rPr sz="4800" b="1">
                <a:solidFill>
                  <a:srgbClr val="C22FA8"/>
                </a:solidFill>
                <a:latin typeface="Arial Black"/>
              </a:rPr>
              <a:t>Well Rated?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A2A4A"/>
                </a:solidFill>
                <a:latin typeface="Arial"/>
              </a:rPr>
              <a:t>Exploring IMDB movies from 2010 to 2019 with SQL, to see which genres audiences rate highest.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029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E248F"/>
                </a:solidFill>
                <a:latin typeface="Arial"/>
              </a:rPr>
              <a:t>Glory Mukami Kinyua  |  SQL Summative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 Black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097280"/>
            <a:ext cx="640080" cy="64008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5852160"/>
            <a:ext cx="548640" cy="54864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2FA8"/>
                </a:solidFill>
                <a:latin typeface="Arial Black"/>
              </a:rPr>
              <a:t>145,081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2880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2A4A"/>
                </a:solidFill>
                <a:latin typeface="Arial"/>
              </a:rPr>
              <a:t>movies released 2010 to 2019 are in the database, but only 9,615 have a rating, a genre and at least 1,000 votes.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98648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22FA8"/>
                </a:solidFill>
                <a:latin typeface="Arial Black"/>
              </a:rPr>
              <a:t>Documentary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898648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2A4A"/>
                </a:solidFill>
                <a:latin typeface="Arial"/>
              </a:rPr>
              <a:t>is the highest rated genre at 7.27 on average, followed by Biography (6.96) and Sport (6.93).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68496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2FA8"/>
                </a:solidFill>
                <a:latin typeface="Arial Black"/>
              </a:rPr>
              <a:t>Horror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968496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2A4A"/>
                </a:solidFill>
                <a:latin typeface="Arial"/>
              </a:rPr>
              <a:t>is the lowest at 5.28, with Sci-Fi (5.71) and Thriller (5.90) just above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38344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2FA8"/>
                </a:solidFill>
                <a:latin typeface="Arial Black"/>
              </a:rPr>
              <a:t>Drama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038344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2A4A"/>
                </a:solidFill>
                <a:latin typeface="Arial"/>
              </a:rPr>
              <a:t>is the biggest genre by far with 5,047 well-voted films and an average of 6.49.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 Black"/>
              </a:rPr>
              <a:t>Business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45720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0" y="1463040"/>
            <a:ext cx="61264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38560" y="1051560"/>
            <a:ext cx="640080" cy="64008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0040" y="5897880"/>
            <a:ext cx="502920" cy="502920"/>
          </a:xfrm>
          <a:prstGeom prst="ellipse">
            <a:avLst/>
          </a:prstGeom>
          <a:solidFill>
            <a:srgbClr val="7C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114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C22FA8"/>
                </a:solidFill>
                <a:latin typeface="Arial"/>
              </a:rPr>
              <a:t>Which genres earn the highest audience ratings, so a new studio knows where to invest first?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A2A4A"/>
                </a:solidFill>
                <a:latin typeface="Arial"/>
              </a:rPr>
              <a:t>Documentaries, biographies and sports films rate best.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A2A4A"/>
                </a:solidFill>
                <a:latin typeface="Arial"/>
              </a:rPr>
              <a:t>Horror and sci-fi rate lowest of all the genres.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A2A4A"/>
                </a:solidFill>
                <a:latin typeface="Arial"/>
              </a:rPr>
              <a:t>Recommendation: start with documentary and biography projects, which are cheaper to make and score well. Add drama as the safe volume genre.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0" y="1554480"/>
          <a:ext cx="5995851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 Black"/>
              </a:rPr>
              <a:t>Data cleaning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1051560"/>
            <a:ext cx="640080" cy="64008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20040" y="5943600"/>
            <a:ext cx="502920" cy="50292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19072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A2A4A"/>
                </a:solidFill>
                <a:latin typeface="Arial"/>
              </a:rPr>
              <a:t>Split genres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A2A4A"/>
                </a:solidFill>
                <a:latin typeface="Arial"/>
              </a:rPr>
              <a:t>Each movie keeps its genres in one text value like "Action,Crime,Drama". Split them so each genre gets its own row.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91839"/>
            <a:ext cx="457200" cy="45720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7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27832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A2A4A"/>
                </a:solidFill>
                <a:latin typeface="Arial"/>
              </a:rPr>
              <a:t>Leave out missing values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A2A4A"/>
                </a:solidFill>
                <a:latin typeface="Arial"/>
              </a:rPr>
              <a:t>30,765 movies have no runtime, 5,359 have no genre and 71,225 have no rating. Exclude them, do not fill them in.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800599"/>
            <a:ext cx="457200" cy="45720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1888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736592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A2A4A"/>
                </a:solidFill>
                <a:latin typeface="Arial"/>
              </a:rPr>
              <a:t>Remove future releases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A2A4A"/>
                </a:solidFill>
                <a:latin typeface="Arial"/>
              </a:rPr>
              <a:t>1,063 movies start after 2019. Filter them out.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1783080"/>
            <a:ext cx="457200" cy="45720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80136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19072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A2A4A"/>
                </a:solidFill>
                <a:latin typeface="Arial"/>
              </a:rPr>
              <a:t>Set a vote minimum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A2A4A"/>
                </a:solidFill>
                <a:latin typeface="Arial"/>
              </a:rPr>
              <a:t>Use 1,000 or more votes so a few ratings cannot skew a genre average.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291839"/>
            <a:ext cx="457200" cy="45720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310127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227832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A2A4A"/>
                </a:solidFill>
                <a:latin typeface="Arial"/>
              </a:rPr>
              <a:t>Check odd values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A2A4A"/>
                </a:solidFill>
                <a:latin typeface="Arial"/>
              </a:rPr>
              <a:t>123 movies run over 300 minutes. Review them before using runtime.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4800599"/>
            <a:ext cx="457200" cy="45720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481888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36592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A2A4A"/>
                </a:solidFill>
                <a:latin typeface="Arial"/>
              </a:rPr>
              <a:t>Standardise titles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A2A4A"/>
                </a:solidFill>
                <a:latin typeface="Arial"/>
              </a:rPr>
              <a:t>14,483 movies have a different original title, so pick one title to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731520"/>
            <a:ext cx="10881360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Child Hood" panose="02000506020000020003" pitchFamily="50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365760"/>
            <a:ext cx="822960" cy="82296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Child Hood" panose="02000506020000020003" pitchFamily="50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74320" y="5669280"/>
            <a:ext cx="640080" cy="640080"/>
          </a:xfrm>
          <a:prstGeom prst="ellipse">
            <a:avLst/>
          </a:prstGeom>
          <a:solidFill>
            <a:srgbClr val="7C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Child Hood" panose="02000506020000020003" pitchFamily="50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155680" y="5760720"/>
            <a:ext cx="457200" cy="457200"/>
          </a:xfrm>
          <a:prstGeom prst="ellipse">
            <a:avLst/>
          </a:prstGeom>
          <a:solidFill>
            <a:srgbClr val="C22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Child Hood" panose="02000506020000020003" pitchFamily="50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87552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7200" dirty="0" err="1">
                <a:solidFill>
                  <a:srgbClr val="C22FA8"/>
                </a:solidFill>
                <a:latin typeface="Child Hood" panose="02000506020000020003" pitchFamily="50" charset="0"/>
              </a:rPr>
              <a:t>Github</a:t>
            </a:r>
            <a:r>
              <a:rPr lang="en-US" sz="7200" dirty="0">
                <a:solidFill>
                  <a:srgbClr val="C22FA8"/>
                </a:solidFill>
                <a:latin typeface="Child Hood" panose="02000506020000020003" pitchFamily="50" charset="0"/>
              </a:rPr>
              <a:t> repo:</a:t>
            </a:r>
            <a:endParaRPr sz="7200" dirty="0">
              <a:solidFill>
                <a:srgbClr val="C22FA8"/>
              </a:solidFill>
              <a:latin typeface="Child Hood" panose="02000506020000020003" pitchFamily="50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96012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600" b="0" dirty="0">
                <a:solidFill>
                  <a:srgbClr val="3A2A4A"/>
                </a:solidFill>
                <a:latin typeface="Child Hood" panose="02000506020000020003" pitchFamily="50" charset="0"/>
                <a:hlinkClick r:id="rId3"/>
              </a:rPr>
              <a:t>Glory's </a:t>
            </a:r>
            <a:r>
              <a:rPr lang="en-US" sz="3600" b="0" dirty="0" err="1">
                <a:solidFill>
                  <a:srgbClr val="3A2A4A"/>
                </a:solidFill>
                <a:latin typeface="Child Hood" panose="02000506020000020003" pitchFamily="50" charset="0"/>
                <a:hlinkClick r:id="rId3"/>
              </a:rPr>
              <a:t>gituhub</a:t>
            </a:r>
            <a:r>
              <a:rPr lang="en-US" sz="3600" b="0" dirty="0">
                <a:solidFill>
                  <a:srgbClr val="3A2A4A"/>
                </a:solidFill>
                <a:latin typeface="Child Hood" panose="02000506020000020003" pitchFamily="50" charset="0"/>
                <a:hlinkClick r:id="rId3"/>
              </a:rPr>
              <a:t> repo</a:t>
            </a:r>
            <a:endParaRPr lang="en-US" sz="3600" b="0" dirty="0">
              <a:solidFill>
                <a:srgbClr val="3A2A4A"/>
              </a:solidFill>
              <a:latin typeface="Child Hood" panose="02000506020000020003" pitchFamily="5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5029200"/>
            <a:ext cx="9144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dirty="0">
                <a:solidFill>
                  <a:srgbClr val="8E248F"/>
                </a:solidFill>
                <a:latin typeface="Child Hood" panose="02000506020000020003" pitchFamily="50" charset="0"/>
              </a:rPr>
              <a:t>Glory Mukami Kinyua  |  SQL Summative Lab</a:t>
            </a:r>
          </a:p>
        </p:txBody>
      </p:sp>
    </p:spTree>
    <p:extLst>
      <p:ext uri="{BB962C8B-B14F-4D97-AF65-F5344CB8AC3E}">
        <p14:creationId xmlns:p14="http://schemas.microsoft.com/office/powerpoint/2010/main" val="1846441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349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Child Hood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GLORY MUKAMI</dc:creator>
  <cp:keywords/>
  <dc:description>generated using python-pptx</dc:description>
  <cp:lastModifiedBy>Glorie Mukami</cp:lastModifiedBy>
  <cp:revision>2</cp:revision>
  <dcterms:created xsi:type="dcterms:W3CDTF">2013-01-27T09:14:16Z</dcterms:created>
  <dcterms:modified xsi:type="dcterms:W3CDTF">2026-10-24T09:02:11Z</dcterms:modified>
  <cp:category/>
</cp:coreProperties>
</file>